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3" r:id="rId3"/>
    <p:sldId id="257" r:id="rId4"/>
    <p:sldId id="272" r:id="rId5"/>
    <p:sldId id="258" r:id="rId6"/>
    <p:sldId id="260" r:id="rId7"/>
    <p:sldId id="269" r:id="rId8"/>
    <p:sldId id="259" r:id="rId9"/>
    <p:sldId id="268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0" r:id="rId18"/>
    <p:sldId id="274" r:id="rId19"/>
    <p:sldId id="27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070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7D6E2-C777-6F28-DD78-81AA310AB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1071C-CF35-EFEA-674B-05F5ECEC4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1FBEF-CFA1-7F59-9C3F-B4E646A3C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F9CF0-CDDE-4845-B1AF-6C9A2D31D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24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914400"/>
            <a:ext cx="4572000" cy="45720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-457200"/>
            <a:ext cx="3200400" cy="3200400"/>
          </a:xfrm>
          <a:prstGeom prst="ellipse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F4A26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Hero Vired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Disaster Declarations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Capstone Project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114800" cy="3657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71 Years of FEMA Disaster Data  |  1953 – 2023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A2D4A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64K+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Records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34290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A2D4A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3474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</a:rPr>
              <a:t>59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and Territories 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342900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A2D4A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3474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3DF996-66B7-B2E6-25AF-A1A9F4F27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441255"/>
              </p:ext>
            </p:extLst>
          </p:nvPr>
        </p:nvGraphicFramePr>
        <p:xfrm>
          <a:off x="485975" y="460397"/>
          <a:ext cx="7746950" cy="4396506"/>
        </p:xfrm>
        <a:graphic>
          <a:graphicData uri="http://schemas.openxmlformats.org/drawingml/2006/table">
            <a:tbl>
              <a:tblPr/>
              <a:tblGrid>
                <a:gridCol w="2159880">
                  <a:extLst>
                    <a:ext uri="{9D8B030D-6E8A-4147-A177-3AD203B41FA5}">
                      <a16:colId xmlns:a16="http://schemas.microsoft.com/office/drawing/2014/main" val="2189087616"/>
                    </a:ext>
                  </a:extLst>
                </a:gridCol>
                <a:gridCol w="681350">
                  <a:extLst>
                    <a:ext uri="{9D8B030D-6E8A-4147-A177-3AD203B41FA5}">
                      <a16:colId xmlns:a16="http://schemas.microsoft.com/office/drawing/2014/main" val="1555382035"/>
                    </a:ext>
                  </a:extLst>
                </a:gridCol>
                <a:gridCol w="681350">
                  <a:extLst>
                    <a:ext uri="{9D8B030D-6E8A-4147-A177-3AD203B41FA5}">
                      <a16:colId xmlns:a16="http://schemas.microsoft.com/office/drawing/2014/main" val="3100909119"/>
                    </a:ext>
                  </a:extLst>
                </a:gridCol>
                <a:gridCol w="885755">
                  <a:extLst>
                    <a:ext uri="{9D8B030D-6E8A-4147-A177-3AD203B41FA5}">
                      <a16:colId xmlns:a16="http://schemas.microsoft.com/office/drawing/2014/main" val="3510999462"/>
                    </a:ext>
                  </a:extLst>
                </a:gridCol>
                <a:gridCol w="885755">
                  <a:extLst>
                    <a:ext uri="{9D8B030D-6E8A-4147-A177-3AD203B41FA5}">
                      <a16:colId xmlns:a16="http://schemas.microsoft.com/office/drawing/2014/main" val="1845791494"/>
                    </a:ext>
                  </a:extLst>
                </a:gridCol>
                <a:gridCol w="885755">
                  <a:extLst>
                    <a:ext uri="{9D8B030D-6E8A-4147-A177-3AD203B41FA5}">
                      <a16:colId xmlns:a16="http://schemas.microsoft.com/office/drawing/2014/main" val="3108994829"/>
                    </a:ext>
                  </a:extLst>
                </a:gridCol>
                <a:gridCol w="885755">
                  <a:extLst>
                    <a:ext uri="{9D8B030D-6E8A-4147-A177-3AD203B41FA5}">
                      <a16:colId xmlns:a16="http://schemas.microsoft.com/office/drawing/2014/main" val="3663244955"/>
                    </a:ext>
                  </a:extLst>
                </a:gridCol>
                <a:gridCol w="681350">
                  <a:extLst>
                    <a:ext uri="{9D8B030D-6E8A-4147-A177-3AD203B41FA5}">
                      <a16:colId xmlns:a16="http://schemas.microsoft.com/office/drawing/2014/main" val="1937252625"/>
                    </a:ext>
                  </a:extLst>
                </a:gridCol>
              </a:tblGrid>
              <a:tr h="415637">
                <a:tc gridSpan="8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effectLst/>
                        </a:rPr>
                        <a:t>CAPSTONE PROJECT — GANTT CHART TRACKER | CPDA Batch 9 · Hero Vired 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677277"/>
                  </a:ext>
                </a:extLst>
              </a:tr>
              <a:tr h="27011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</a:rPr>
                        <a:t>Task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</a:rPr>
                        <a:t>Start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</a:rPr>
                        <a:t>End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dirty="0" err="1">
                          <a:solidFill>
                            <a:srgbClr val="FFFFFF"/>
                          </a:solidFill>
                          <a:effectLst/>
                        </a:rPr>
                        <a:t>Wk</a:t>
                      </a:r>
                      <a:r>
                        <a:rPr lang="en-US" sz="600" b="1" dirty="0">
                          <a:solidFill>
                            <a:srgbClr val="FFFFFF"/>
                          </a:solidFill>
                          <a:effectLst/>
                        </a:rPr>
                        <a:t> 1</a:t>
                      </a:r>
                      <a:br>
                        <a:rPr lang="en-US" sz="600" b="1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600" b="1" dirty="0">
                          <a:solidFill>
                            <a:srgbClr val="FFFFFF"/>
                          </a:solidFill>
                          <a:effectLst/>
                        </a:rPr>
                        <a:t>Jun 3–7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dirty="0" err="1">
                          <a:solidFill>
                            <a:srgbClr val="FFFFFF"/>
                          </a:solidFill>
                          <a:effectLst/>
                        </a:rPr>
                        <a:t>Wk</a:t>
                      </a:r>
                      <a:r>
                        <a:rPr lang="en-US" sz="600" b="1" dirty="0">
                          <a:solidFill>
                            <a:srgbClr val="FFFFFF"/>
                          </a:solidFill>
                          <a:effectLst/>
                        </a:rPr>
                        <a:t> 2</a:t>
                      </a:r>
                      <a:br>
                        <a:rPr lang="en-US" sz="600" b="1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600" b="1" dirty="0">
                          <a:solidFill>
                            <a:srgbClr val="FFFFFF"/>
                          </a:solidFill>
                          <a:effectLst/>
                        </a:rPr>
                        <a:t>Jun 8–14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 dirty="0" err="1">
                          <a:solidFill>
                            <a:srgbClr val="FFFFFF"/>
                          </a:solidFill>
                          <a:effectLst/>
                        </a:rPr>
                        <a:t>Wk</a:t>
                      </a:r>
                      <a:r>
                        <a:rPr lang="en-US" sz="600" b="1" dirty="0">
                          <a:solidFill>
                            <a:srgbClr val="FFFFFF"/>
                          </a:solidFill>
                          <a:effectLst/>
                        </a:rPr>
                        <a:t> 3</a:t>
                      </a:r>
                      <a:br>
                        <a:rPr lang="en-US" sz="600" b="1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600" b="1" dirty="0">
                          <a:solidFill>
                            <a:srgbClr val="FFFFFF"/>
                          </a:solidFill>
                          <a:effectLst/>
                        </a:rPr>
                        <a:t>Jun 15–21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</a:rPr>
                        <a:t>Wk 4</a:t>
                      </a:r>
                      <a:br>
                        <a:rPr lang="en-US" sz="600" b="1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</a:rPr>
                        <a:t>Jun 22–26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</a:rPr>
                        <a:t>Status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980511"/>
                  </a:ext>
                </a:extLst>
              </a:tr>
              <a:tr h="28823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600">
                          <a:solidFill>
                            <a:srgbClr val="1A1A1A"/>
                          </a:solidFill>
                          <a:effectLst/>
                        </a:rPr>
                        <a:t>Assign project plan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2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3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D4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2A7D4F"/>
                          </a:solidFill>
                          <a:effectLst/>
                        </a:rPr>
                        <a:t>Complete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603665"/>
                  </a:ext>
                </a:extLst>
              </a:tr>
              <a:tr h="28823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600">
                          <a:solidFill>
                            <a:srgbClr val="1A1A1A"/>
                          </a:solidFill>
                          <a:effectLst/>
                        </a:rPr>
                        <a:t>Gantt + GitHub setup + Version Control by Learners Plan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2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19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2A7D4F"/>
                          </a:solidFill>
                          <a:effectLst/>
                        </a:rPr>
                        <a:t>Complete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648800"/>
                  </a:ext>
                </a:extLst>
              </a:tr>
              <a:tr h="28823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600">
                          <a:solidFill>
                            <a:srgbClr val="1A1A1A"/>
                          </a:solidFill>
                          <a:effectLst/>
                        </a:rPr>
                        <a:t>ETL data cleaning &amp; Modelling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2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6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D4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2A7D4F"/>
                          </a:solidFill>
                          <a:effectLst/>
                        </a:rPr>
                        <a:t>Complete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081828"/>
                  </a:ext>
                </a:extLst>
              </a:tr>
              <a:tr h="28823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600">
                          <a:solidFill>
                            <a:srgbClr val="1A1A1A"/>
                          </a:solidFill>
                          <a:effectLst/>
                        </a:rPr>
                        <a:t>DAX Calculations &amp; Measures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8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12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D4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2A7D4F"/>
                          </a:solidFill>
                          <a:effectLst/>
                        </a:rPr>
                        <a:t>Complete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086108"/>
                  </a:ext>
                </a:extLst>
              </a:tr>
              <a:tr h="28823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600">
                          <a:solidFill>
                            <a:srgbClr val="1A1A1A"/>
                          </a:solidFill>
                          <a:effectLst/>
                        </a:rPr>
                        <a:t>E. Scenario &amp; What-If Analysis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8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12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D4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2A7D4F"/>
                          </a:solidFill>
                          <a:effectLst/>
                        </a:rPr>
                        <a:t>Complete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582887"/>
                  </a:ext>
                </a:extLst>
              </a:tr>
              <a:tr h="28823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600">
                          <a:solidFill>
                            <a:srgbClr val="1A1A1A"/>
                          </a:solidFill>
                          <a:effectLst/>
                        </a:rPr>
                        <a:t>Dashboard UX / Q&amp;A test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15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19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D4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2A7D4F"/>
                          </a:solidFill>
                          <a:effectLst/>
                        </a:rPr>
                        <a:t>Complete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095151"/>
                  </a:ext>
                </a:extLst>
              </a:tr>
              <a:tr h="28823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600">
                          <a:solidFill>
                            <a:srgbClr val="1A1A1A"/>
                          </a:solidFill>
                          <a:effectLst/>
                        </a:rPr>
                        <a:t>Weekly review call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6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Jul 25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2A7D4F"/>
                          </a:solidFill>
                          <a:effectLst/>
                        </a:rPr>
                        <a:t>Complete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76371"/>
                  </a:ext>
                </a:extLst>
              </a:tr>
              <a:tr h="28823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600">
                          <a:solidFill>
                            <a:srgbClr val="1A1A1A"/>
                          </a:solidFill>
                          <a:effectLst/>
                        </a:rPr>
                        <a:t>Final PPT preparation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22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Jul 22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D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2A7D4F"/>
                          </a:solidFill>
                          <a:effectLst/>
                        </a:rPr>
                        <a:t>Complete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078319"/>
                  </a:ext>
                </a:extLst>
              </a:tr>
              <a:tr h="28823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600">
                          <a:solidFill>
                            <a:srgbClr val="1A1A1A"/>
                          </a:solidFill>
                          <a:effectLst/>
                        </a:rPr>
                        <a:t>Final GitHub push + README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23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23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D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2A7D4F"/>
                          </a:solidFill>
                          <a:effectLst/>
                        </a:rPr>
                        <a:t>Complete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924638"/>
                  </a:ext>
                </a:extLst>
              </a:tr>
              <a:tr h="28823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600">
                          <a:solidFill>
                            <a:srgbClr val="1A1A1A"/>
                          </a:solidFill>
                          <a:effectLst/>
                        </a:rPr>
                        <a:t>Final review call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24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25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D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2A7D4F"/>
                          </a:solidFill>
                          <a:effectLst/>
                        </a:rPr>
                        <a:t>Complete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265086"/>
                  </a:ext>
                </a:extLst>
              </a:tr>
              <a:tr h="28823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600">
                          <a:solidFill>
                            <a:srgbClr val="1A1A1A"/>
                          </a:solidFill>
                          <a:effectLst/>
                        </a:rPr>
                        <a:t>Presentation day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27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500">
                          <a:solidFill>
                            <a:srgbClr val="333333"/>
                          </a:solidFill>
                          <a:effectLst/>
                        </a:rPr>
                        <a:t>Jun 27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effectLst/>
                        </a:rPr>
                        <a:t>■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00" b="1">
                          <a:solidFill>
                            <a:srgbClr val="D97B21"/>
                          </a:solidFill>
                          <a:effectLst/>
                        </a:rPr>
                        <a:t>Scheduled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CE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E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183044"/>
                  </a:ext>
                </a:extLst>
              </a:tr>
              <a:tr h="27011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750314"/>
                  </a:ext>
                </a:extLst>
              </a:tr>
              <a:tr h="270113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500" b="1">
                          <a:solidFill>
                            <a:srgbClr val="0A7EA4"/>
                          </a:solidFill>
                          <a:effectLst/>
                        </a:rPr>
                        <a:t>■ Active week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500" b="1">
                          <a:solidFill>
                            <a:srgbClr val="2A7D4F"/>
                          </a:solidFill>
                          <a:effectLst/>
                        </a:rPr>
                        <a:t>■ Complete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500" b="1">
                          <a:solidFill>
                            <a:srgbClr val="8B5CF6"/>
                          </a:solidFill>
                          <a:effectLst/>
                        </a:rPr>
                        <a:t>■ Recurring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500" b="1">
                          <a:solidFill>
                            <a:srgbClr val="D97B21"/>
                          </a:solidFill>
                          <a:effectLst/>
                        </a:rPr>
                        <a:t>■ Scheduled/Upcoming</a:t>
                      </a: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endParaRPr lang="en-US" sz="1200" dirty="0">
                        <a:effectLst/>
                      </a:endParaRPr>
                    </a:p>
                  </a:txBody>
                  <a:tcPr marL="19319" marR="19319" marT="12879" marB="12879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7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921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3441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Guide, dataset, objectives, scope &amp; team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56048" y="14630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56048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3441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ETL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691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transformations, star schema design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66928" y="26517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25328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interactive pages with live demos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4231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56048" y="26517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56048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25328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hotspots, incident patterns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66928" y="38404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3721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8872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projections &amp; funding forecasts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3611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956048" y="38404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56048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3721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Q&amp;A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7784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Learnings, next steps, open discussion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47F26-6415-8A04-EFE3-E16E0D99B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24996D-49F3-EAEB-9629-CD519B2A28ED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1780CAE-ADF2-CD42-FD17-50DDF35C7858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Guide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B25563-8BA5-DA0F-F7CE-E51DF0B2C141}"/>
              </a:ext>
            </a:extLst>
          </p:cNvPr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DCC9192-C86B-E606-7B85-EED1A0051ABA}"/>
              </a:ext>
            </a:extLst>
          </p:cNvPr>
          <p:cNvSpPr/>
          <p:nvPr/>
        </p:nvSpPr>
        <p:spPr>
          <a:xfrm>
            <a:off x="457200" y="1325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46D8849-0827-B2A8-E333-D2DF5FB74457}"/>
              </a:ext>
            </a:extLst>
          </p:cNvPr>
          <p:cNvSpPr/>
          <p:nvPr/>
        </p:nvSpPr>
        <p:spPr>
          <a:xfrm>
            <a:off x="566928" y="14630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8FC9A1-F5B8-0F92-1019-34C29CADEC07}"/>
              </a:ext>
            </a:extLst>
          </p:cNvPr>
          <p:cNvSpPr/>
          <p:nvPr/>
        </p:nvSpPr>
        <p:spPr>
          <a:xfrm>
            <a:off x="566928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668386B-DCA3-18ED-6DE7-14B71B5583D0}"/>
              </a:ext>
            </a:extLst>
          </p:cNvPr>
          <p:cNvSpPr/>
          <p:nvPr/>
        </p:nvSpPr>
        <p:spPr>
          <a:xfrm>
            <a:off x="1118382" y="15544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3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677327B-320C-FFDF-86EE-F86FC75E0F63}"/>
              </a:ext>
            </a:extLst>
          </p:cNvPr>
          <p:cNvSpPr/>
          <p:nvPr/>
        </p:nvSpPr>
        <p:spPr>
          <a:xfrm>
            <a:off x="457200" y="24231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198FD8B-A8D7-84D7-FA19-B7B6AA0E75B2}"/>
              </a:ext>
            </a:extLst>
          </p:cNvPr>
          <p:cNvSpPr/>
          <p:nvPr/>
        </p:nvSpPr>
        <p:spPr>
          <a:xfrm>
            <a:off x="566928" y="265176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B7BC02E-436A-D42C-ADEC-403C03B7A810}"/>
              </a:ext>
            </a:extLst>
          </p:cNvPr>
          <p:cNvSpPr/>
          <p:nvPr/>
        </p:nvSpPr>
        <p:spPr>
          <a:xfrm>
            <a:off x="566928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0C615B9-A6AB-8145-6C96-46C179EF7F67}"/>
              </a:ext>
            </a:extLst>
          </p:cNvPr>
          <p:cNvSpPr/>
          <p:nvPr/>
        </p:nvSpPr>
        <p:spPr>
          <a:xfrm>
            <a:off x="1118382" y="2765293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516E3DF-C997-2903-8D74-A731E48EB775}"/>
              </a:ext>
            </a:extLst>
          </p:cNvPr>
          <p:cNvSpPr/>
          <p:nvPr/>
        </p:nvSpPr>
        <p:spPr>
          <a:xfrm>
            <a:off x="457200" y="3611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FADB6BE-06D5-713C-111B-D8F79DCA8F74}"/>
              </a:ext>
            </a:extLst>
          </p:cNvPr>
          <p:cNvSpPr/>
          <p:nvPr/>
        </p:nvSpPr>
        <p:spPr>
          <a:xfrm>
            <a:off x="566928" y="38404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FC8A1C6-8B5D-C766-B40C-7FCEA47780FE}"/>
              </a:ext>
            </a:extLst>
          </p:cNvPr>
          <p:cNvSpPr/>
          <p:nvPr/>
        </p:nvSpPr>
        <p:spPr>
          <a:xfrm>
            <a:off x="566928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B085EB2-464A-4537-7E38-D55F434DB225}"/>
              </a:ext>
            </a:extLst>
          </p:cNvPr>
          <p:cNvSpPr/>
          <p:nvPr/>
        </p:nvSpPr>
        <p:spPr>
          <a:xfrm>
            <a:off x="1118382" y="39410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3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E6EE284-594F-18EB-2F75-000039F19EFE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52FAECB6-FBE5-C7B4-7A9C-FE6077842107}"/>
              </a:ext>
            </a:extLst>
          </p:cNvPr>
          <p:cNvSpPr/>
          <p:nvPr/>
        </p:nvSpPr>
        <p:spPr>
          <a:xfrm>
            <a:off x="4754880" y="1325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F55D4E92-CA3F-D2DE-C0E2-3EE8D4505820}"/>
              </a:ext>
            </a:extLst>
          </p:cNvPr>
          <p:cNvSpPr/>
          <p:nvPr/>
        </p:nvSpPr>
        <p:spPr>
          <a:xfrm>
            <a:off x="4920453" y="1476756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1BE0882D-293A-1193-26FD-14B266CA3B86}"/>
              </a:ext>
            </a:extLst>
          </p:cNvPr>
          <p:cNvSpPr/>
          <p:nvPr/>
        </p:nvSpPr>
        <p:spPr>
          <a:xfrm>
            <a:off x="5423373" y="16550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Navigation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40" name="Shape 23">
            <a:extLst>
              <a:ext uri="{FF2B5EF4-FFF2-40B4-BE49-F238E27FC236}">
                <a16:creationId xmlns:a16="http://schemas.microsoft.com/office/drawing/2014/main" id="{EDD87C6A-36FD-D70C-C2D1-895D8735A191}"/>
              </a:ext>
            </a:extLst>
          </p:cNvPr>
          <p:cNvSpPr/>
          <p:nvPr/>
        </p:nvSpPr>
        <p:spPr>
          <a:xfrm>
            <a:off x="4754880" y="24460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3BAE3751-5861-B300-11B9-DC88DAF4C5E2}"/>
              </a:ext>
            </a:extLst>
          </p:cNvPr>
          <p:cNvSpPr/>
          <p:nvPr/>
        </p:nvSpPr>
        <p:spPr>
          <a:xfrm>
            <a:off x="4754880" y="35890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8F545BED-8E34-8A4F-10D3-2E17B66EF4A6}"/>
              </a:ext>
            </a:extLst>
          </p:cNvPr>
          <p:cNvSpPr/>
          <p:nvPr/>
        </p:nvSpPr>
        <p:spPr>
          <a:xfrm>
            <a:off x="4925784" y="267829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045</a:t>
            </a: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973E3EE6-4EC2-A7F7-19E8-00E7B8720A08}"/>
              </a:ext>
            </a:extLst>
          </p:cNvPr>
          <p:cNvSpPr/>
          <p:nvPr/>
        </p:nvSpPr>
        <p:spPr>
          <a:xfrm>
            <a:off x="4932175" y="384161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4AF10BB8-83B3-CAD1-7112-492DA9D178D8}"/>
              </a:ext>
            </a:extLst>
          </p:cNvPr>
          <p:cNvSpPr/>
          <p:nvPr/>
        </p:nvSpPr>
        <p:spPr>
          <a:xfrm>
            <a:off x="5441495" y="28497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What-If-Parameter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AB4187D1-3C95-4F8A-8921-0FBAC335331A}"/>
              </a:ext>
            </a:extLst>
          </p:cNvPr>
          <p:cNvSpPr/>
          <p:nvPr/>
        </p:nvSpPr>
        <p:spPr>
          <a:xfrm>
            <a:off x="5459614" y="39932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39073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 Disaster Declarations  |  1953 – 2023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This Project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5564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7190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64,092 FEMA disaster declaration records spanning 71 years (1953–2023)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2257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286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Power BI solution with data ingestion, ETL, star-schema modeling, and interactive reporting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8950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28529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59 US states and territories, including Puerto Rico, Virgin Islands, and Guam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5643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341985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includes 5 interactive pages: Overview, Geographic Analysis, Temporal Trends, Incident &amp; Program Insights, and Scenario Insights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2336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398678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scenario modeling enables projection of future disaster counts and funding needs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754880" y="114300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4892040" y="1261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892040" y="1719072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4892040" y="18105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64,092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4892040" y="2194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Declaration Records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6812280" y="1719072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6812280" y="18105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4,700+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6812280" y="2194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Disaster Events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4892040" y="2770632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4892040" y="28620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4892040" y="3246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Territories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6812280" y="2770632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6812280" y="286207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22.8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6812280" y="3246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Disaster Duration (Days)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4892040" y="3822192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4892040" y="391363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4892040" y="4297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Program Activation Rate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6812280" y="3822192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6812280" y="391363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17,171</a:t>
            </a:r>
            <a:endParaRPr lang="en-US" sz="2000" dirty="0"/>
          </a:p>
        </p:txBody>
      </p:sp>
      <p:sp>
        <p:nvSpPr>
          <p:cNvPr id="36" name="Text 29"/>
          <p:cNvSpPr/>
          <p:nvPr/>
        </p:nvSpPr>
        <p:spPr>
          <a:xfrm>
            <a:off x="6812280" y="4297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Storm (Most Frequent)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 &amp; POWER QUERY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&amp; Derived Columns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2527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17556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CSV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20299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64,092 rows from FEMA CSV. Convert ISO-8601 date strings to Power BI date types.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10972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37560" y="12344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375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1252728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10128" y="17556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Text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310128" y="20299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&amp; Proper-case: state, designated_area, incident_type. Map DR→Major Disaster, EM→Emergency, FM→Fire Management.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26480" y="10972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63640" y="12344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263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1252728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36208" y="17556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Columns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36208" y="20299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DisasterDuration (days), TimeToDeclaration (days), DeclarationYear, DeclarationMonth, DeclarationMonthName.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274320" y="29260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11480" y="30632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114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081528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4048" y="3584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Validation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384048" y="38587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FIPS codes outside 1000–99999 range. Statewide records (e.g. 13000) retained as valid.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00400" y="29260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337560" y="30632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33375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8768" y="3081528"/>
            <a:ext cx="320040" cy="3200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310128" y="3584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Rare Types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310128" y="38587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types with count &lt; 50 consolidated into 'Other' to reduce slicer cardinality.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126480" y="29260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263640" y="30632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848" y="3081528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236208" y="35844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 Model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236208" y="385876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loaded into star schema with verified relationships and optimized column types.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3063240" y="192024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5989320" y="192024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Encountered &amp; How We Solved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00584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incident end dates in 8,410 records (13%)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26280" y="100584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846320" y="1005840"/>
            <a:ext cx="3977640" cy="68580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1430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21808" y="10058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DATEDIFF with null handling; excluded null durations from average calculations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1801368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3852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" y="180136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ISO-8601 date strings with timezone caused type errors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526280" y="1801368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4846320" y="1801368"/>
            <a:ext cx="3977640" cy="68580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93852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21808" y="1801368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Table.TransformColumnTypes to convert all date columns consistently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274320" y="2596896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734056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9808" y="2596896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incident types created slicer clutter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526280" y="2596896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4846320" y="2596896"/>
            <a:ext cx="3977640" cy="68580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734056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21808" y="2596896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low-frequency types (count &lt; 50) into 'Other' category in Power Query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274320" y="3392424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529584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9808" y="3392424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 codes (DR, EM, FM) were cryptic for business users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4526280" y="3392424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1"/>
          <p:cNvSpPr/>
          <p:nvPr/>
        </p:nvSpPr>
        <p:spPr>
          <a:xfrm>
            <a:off x="4846320" y="3392424"/>
            <a:ext cx="3977640" cy="68580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529584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321808" y="3392424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readable labels: Major Disaster, Emergency, Fire Management via M code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274320" y="4187952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325112"/>
            <a:ext cx="274320" cy="27432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49808" y="418795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spike skewed temporal trend charts</a:t>
            </a:r>
            <a:endParaRPr lang="en-US" sz="1000" dirty="0"/>
          </a:p>
        </p:txBody>
      </p:sp>
      <p:sp>
        <p:nvSpPr>
          <p:cNvPr id="36" name="Text 25"/>
          <p:cNvSpPr/>
          <p:nvPr/>
        </p:nvSpPr>
        <p:spPr>
          <a:xfrm>
            <a:off x="4526280" y="4187952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26"/>
          <p:cNvSpPr/>
          <p:nvPr/>
        </p:nvSpPr>
        <p:spPr>
          <a:xfrm>
            <a:off x="4846320" y="4187952"/>
            <a:ext cx="3977640" cy="685800"/>
          </a:xfrm>
          <a:prstGeom prst="roundRect">
            <a:avLst>
              <a:gd name="adj" fmla="val 8000"/>
            </a:avLst>
          </a:prstGeom>
          <a:solidFill>
            <a:srgbClr val="F0FFF4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4325112"/>
            <a:ext cx="274320" cy="27432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321808" y="418795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year-range slicer so users can filter 2020 in/out for clean trend analysis</a:t>
            </a:r>
            <a:endParaRPr lang="en-US" sz="1000" dirty="0"/>
          </a:p>
        </p:txBody>
      </p:sp>
      <p:sp>
        <p:nvSpPr>
          <p:cNvPr id="40" name="Text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&amp; STAR SCHEMA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Relationship View  |  Fact + Dimension Tables</a:t>
            </a:r>
            <a:endParaRPr lang="en-US" sz="1200" dirty="0"/>
          </a:p>
        </p:txBody>
      </p:sp>
      <p:pic>
        <p:nvPicPr>
          <p:cNvPr id="5" name="Image 0" descr="/mnt/user-data/uploads/178240873670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5303520" cy="283464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760720" y="10972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Tables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60720" y="1536192"/>
            <a:ext cx="3154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159105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71616" y="15727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Facts_Disaster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071616" y="17556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fact table with all 64K declaration records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760720" y="2039112"/>
            <a:ext cx="3154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209397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71616" y="20756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Dim_State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6071616" y="22585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lookup with US State flag images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760720" y="2542032"/>
            <a:ext cx="3154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259689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71616" y="25786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Dim_IncidentType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6071616" y="27614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categories (Storm, Hurricane, Flood...)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5760720" y="3044952"/>
            <a:ext cx="3154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309981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71616" y="30815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Dim_DeclarationType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6071616" y="326440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DR, EM, FM declaration type labels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5760720" y="3547872"/>
            <a:ext cx="3154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360273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071616" y="35844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Dim_County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6071616" y="37673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geography with FIPS codes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5760720" y="4050792"/>
            <a:ext cx="3154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4105656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071616" y="40873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DateTable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6071616" y="42702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 (Year, Quarter, Month)</a:t>
            </a:r>
            <a:endParaRPr lang="en-US" sz="850" dirty="0"/>
          </a:p>
        </p:txBody>
      </p:sp>
      <p:sp>
        <p:nvSpPr>
          <p:cNvPr id="31" name="Shape 22"/>
          <p:cNvSpPr/>
          <p:nvPr/>
        </p:nvSpPr>
        <p:spPr>
          <a:xfrm>
            <a:off x="274320" y="402336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3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relationships: 1-to-Many  |  Single cross-filter direction  |  Star schema design optimized for DAX time intelligence and slicers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&amp; CALCULATIONS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Measures Powering the Dashboard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10972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Disasters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26464"/>
            <a:ext cx="3977640" cy="64008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142646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COUNT(Facts_Disaster[disaster_number])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26680" y="109728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26680" y="10972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097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Duration (Days)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1426464"/>
            <a:ext cx="3977640" cy="64008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73752" y="142646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AVERAGEX(FILTER(Disaster, NOT ISBLANK([DisasterDuration])), [DisasterDuration])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91840" y="242316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91840" y="2423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2423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Change 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752344"/>
            <a:ext cx="3977640" cy="64008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275234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DIVIDE(CurrentYear - PriorYear, PriorYear) via DATEADD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233172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26680" y="242316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26680" y="24231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2423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Disaster 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752344"/>
            <a:ext cx="3977640" cy="64008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73752" y="275234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DIVIDE([Disasters by State], CALCULATE(COUNTROWS, ALL(DimState)))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65760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91840" y="374904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0" y="37490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1480" y="3749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Total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078224"/>
            <a:ext cx="3977640" cy="64008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8912" y="407822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ROUND(BaseCount * (1 + [FrequencyAdjPct Value]), 0)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365760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726680" y="374904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26680" y="37490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46320" y="3749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PA Funding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00600" y="4078224"/>
            <a:ext cx="3977640" cy="64008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73752" y="407822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AdjPA * [Avg PA Cost Per Disaster] (baseline $5M/disaster)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2286000"/>
            <a:ext cx="4114800" cy="4114800"/>
          </a:xfrm>
          <a:prstGeom prst="ellipse">
            <a:avLst/>
          </a:prstGeom>
          <a:solidFill>
            <a:srgbClr val="F4A26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Walkthrough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2743200" cy="3657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Interactive Pages  |  60+ Visual Components  |  Live Slicers &amp; Filters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1: OVERVIEW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 &amp; Summary Visuals</a:t>
            </a:r>
            <a:endParaRPr lang="en-US" sz="1100" dirty="0"/>
          </a:p>
        </p:txBody>
      </p:sp>
      <p:pic>
        <p:nvPicPr>
          <p:cNvPr id="5" name="Image 0" descr="/mnt/user-data/uploads/178240876350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486400" cy="3090672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989320" y="1005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Highlights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444752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49047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0" y="14813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62K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0" y="1719072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Disasters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989320" y="2011680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205740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0" y="20482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23.1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00800" y="2286000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Duration (Days)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989320" y="2578608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262432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0" y="26151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3K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400800" y="2852928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Counties Affected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989320" y="3145536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3191256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0" y="31821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16K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400800" y="3419856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Programs Declared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5989320" y="3712464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3758184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00800" y="37490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58K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6400800" y="3986784"/>
            <a:ext cx="2331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Programs Declared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274320" y="416052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Severe Storm (28%) is the leading disaster type. TX leads with 5,173 declarations. Public Assistance activated in 93% of all declarations.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2: GEOGRAPHIC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County Heatmaps  |  Regional Disaster Distribution</a:t>
            </a:r>
            <a:endParaRPr lang="en-US" sz="1100" dirty="0"/>
          </a:p>
        </p:txBody>
      </p:sp>
      <p:pic>
        <p:nvPicPr>
          <p:cNvPr id="5" name="Image 0" descr="/mnt/user-data/uploads/178240878967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486400" cy="310896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989320" y="1005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Geographic Insights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89320" y="1463040"/>
            <a:ext cx="2834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035040" y="153619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99632" y="14904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Affected State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99632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(5,173)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89320" y="2167128"/>
            <a:ext cx="2834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035040" y="2240280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99632" y="219456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Affected County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99632" y="2395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(535)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89320" y="2871216"/>
            <a:ext cx="2834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35040" y="2944368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99632" y="289864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Disaster Type TX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199632" y="3099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 (1,303)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575304"/>
            <a:ext cx="2834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035040" y="3648456"/>
            <a:ext cx="91440" cy="9144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199632" y="360273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States w/ Data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199632" y="38039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States/Terr.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74320" y="416052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Southern &amp; Gulf states (TX, MO, KY) dominate disaster counts. Washington County is the single most-affected county nationwide.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3: TEMPORAL TRENDS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&amp; Monthly Disaster Patterns  |  2005 vs 2020 Spotlight</a:t>
            </a:r>
            <a:endParaRPr lang="en-US" sz="1100" dirty="0"/>
          </a:p>
        </p:txBody>
      </p:sp>
      <p:pic>
        <p:nvPicPr>
          <p:cNvPr id="5" name="Image 0" descr="/mnt/user-data/uploads/178240882385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486400" cy="310896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989320" y="1005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Historical Events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89320" y="1444752"/>
            <a:ext cx="2834640" cy="1298448"/>
          </a:xfrm>
          <a:prstGeom prst="roundRect">
            <a:avLst>
              <a:gd name="adj" fmla="val 5634"/>
            </a:avLst>
          </a:prstGeom>
          <a:solidFill>
            <a:srgbClr val="FFF3CD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126480" y="14904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2005 — Hurricane Crisis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26480" y="1764792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Katrina &amp; Rita caused a spike in declarations. ~1,400 deaths, $150B+ in damages. PA accounted for ~90% of FEMA activations.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89320" y="283464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2648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2020 — COVID-19 Pandemic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126480" y="31546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declaration activity on record. 99%+ of declarations: Biological Incidents. FEMA activated PA, HM, and IH programs at scale.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416052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Two peak events dominate the dataset: 2005 Hurricane season and 2020 COVID-19 pandemic — both required unprecedented federal disaster response.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4: INCIDENT &amp; PROGRAM INSIGHTS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Activation by Incident Type  |  Time-to-Declaration Analysis</a:t>
            </a:r>
            <a:endParaRPr lang="en-US" sz="1100" dirty="0"/>
          </a:p>
        </p:txBody>
      </p:sp>
      <p:pic>
        <p:nvPicPr>
          <p:cNvPr id="5" name="Image 0" descr="/mnt/user-data/uploads/178240884407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486400" cy="310896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989320" y="1005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Highlights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89320" y="1463040"/>
            <a:ext cx="2834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89320" y="1463040"/>
            <a:ext cx="64008" cy="594360"/>
          </a:xfrm>
          <a:prstGeom prst="round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53912" y="14904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Incident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53912" y="16916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Storm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53912" y="18928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36,271 programs declared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89320" y="2167128"/>
            <a:ext cx="2834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89320" y="2167128"/>
            <a:ext cx="64008" cy="594360"/>
          </a:xfrm>
          <a:prstGeom prst="round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53912" y="219456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53912" y="23957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Program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53912" y="259689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57,523 total activations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89320" y="2871216"/>
            <a:ext cx="2834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989320" y="2871216"/>
            <a:ext cx="64008" cy="594360"/>
          </a:xfrm>
          <a:prstGeom prst="round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153912" y="289864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Dur.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53912" y="30998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153912" y="330098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89320" y="3575304"/>
            <a:ext cx="2834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89320" y="3575304"/>
            <a:ext cx="64008" cy="59436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53912" y="360273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Decl.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153912" y="38039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Snowstorm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153912" y="400507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days to declaration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74320" y="416052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Severe Storms trigger the most PA program activations. Biological incidents (COVID) have the longest average duration at 68 days.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5: SCENARIO INSIGHTS — WHAT-IF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Adjustment Slider  |  Projected Funding &amp; Disaster Forecasts</a:t>
            </a:r>
            <a:endParaRPr lang="en-US" sz="1100" dirty="0"/>
          </a:p>
        </p:txBody>
      </p:sp>
      <p:pic>
        <p:nvPicPr>
          <p:cNvPr id="5" name="Image 0" descr="/mnt/user-data/uploads/1782408905083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2880360"/>
          </a:xfrm>
          <a:prstGeom prst="rect">
            <a:avLst/>
          </a:prstGeom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760720" y="1005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at 20%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60720" y="1353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Adjustment Pct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1719072"/>
            <a:ext cx="3063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870448" y="17373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Disasters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870448" y="192024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74.14K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760720" y="2286000"/>
            <a:ext cx="3063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70448" y="23042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Events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70448" y="24871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+12.36K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760720" y="2852928"/>
            <a:ext cx="3063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70448" y="28712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 Programs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70448" y="305409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69.03K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760720" y="3419856"/>
            <a:ext cx="3063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70448" y="34381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Funding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870448" y="362102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$7.41 bn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760720" y="3986784"/>
            <a:ext cx="3063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870448" y="4005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870448" y="418795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19.65K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74320" y="4005072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" y="400507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At a 20% frequency increase: projected 74K+ disasters, $7.41 billion in PA funding required. The What-If model enables planners to prepare for climate-driven disaster escalation.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Major Discoveries from the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75488" cy="47548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16128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1155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Storms Dominate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16642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of all declarations (17,171) are Severe Storm events — the single largest incident category. Texas alone accounts for 1,303 hurricane declarations.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1143000"/>
            <a:ext cx="475488" cy="475488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46320" y="1143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116128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11155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846320" y="16642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(5,173 events) leads all states — nearly double Missouri (2,704). Southern Gulf states consistently face the highest disaster risk.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74320" y="237744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11480" y="2514600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11480" y="2514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253288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25880" y="24871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Spike 2020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11480" y="30358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2020 recorded the all-time highest monthly declaration count. 99%+ were COVID-19 Biological Incidents requiring PA, HM, and IH activation.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09160" y="237744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46320" y="2514600"/>
            <a:ext cx="475488" cy="47548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846320" y="2514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4104" y="2532888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760720" y="24871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is the Primary Program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846320" y="30358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Assistance activated in 93% of all declarations (57,523+). Individual Assistance activated in only 27%, highlighting infrastructure-first response.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274320" y="374904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11480" y="3886200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411480" y="38862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3904488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325880" y="38587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 Matters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411480" y="44074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declaration is 25.5 days. Snowstorms and Hurricanes show the fastest federal response times (~12–15 days).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709160" y="374904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4846320" y="3886200"/>
            <a:ext cx="475488" cy="47548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4846320" y="38862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4104" y="3904488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760720" y="3858768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Scales Sharply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4846320" y="44074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20% increase in disaster frequency projects an additional $1.2 billion in PA funding (to $7.41 billion total), underscoring climate cost exposure.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Learnings &amp; Future Directions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7276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1536192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enables end-to-end analysis of large government datasets with minimal code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3969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" y="2103120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+ DAX time intelligence unlocked 70 years of trend analysis in one click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0662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" y="2670048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heatmaps revealed clear regional risk concentration in Southern US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7355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232" y="3236976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What-If slider transforms static reports into dynamic planning tools for policymakers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40480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3232" y="3803904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demonstrates how non-weather events can overwhelm federal disaster systems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663440" y="1005840"/>
            <a:ext cx="4160520" cy="3749040"/>
          </a:xfrm>
          <a:prstGeom prst="roundRect">
            <a:avLst>
              <a:gd name="adj" fmla="val 2439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4800600" y="10972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4773168" y="1536192"/>
            <a:ext cx="3886200" cy="493776"/>
          </a:xfrm>
          <a:prstGeom prst="roundRect">
            <a:avLst>
              <a:gd name="adj" fmla="val 11111"/>
            </a:avLst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618488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93792" y="157276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Power BI Service for cloud-based sharing and automatic refresh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4773168" y="2103120"/>
            <a:ext cx="3886200" cy="493776"/>
          </a:xfrm>
          <a:prstGeom prst="roundRect">
            <a:avLst>
              <a:gd name="adj" fmla="val 11111"/>
            </a:avLst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185416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93792" y="213969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FEMA API to auto-update with new disaster declarations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4773168" y="2670048"/>
            <a:ext cx="3886200" cy="493776"/>
          </a:xfrm>
          <a:prstGeom prst="roundRect">
            <a:avLst>
              <a:gd name="adj" fmla="val 11111"/>
            </a:avLst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752344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93792" y="270662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ML forecasting visual (decomposition tree) for disaster prediction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4773168" y="3236976"/>
            <a:ext cx="3886200" cy="493776"/>
          </a:xfrm>
          <a:prstGeom prst="roundRect">
            <a:avLst>
              <a:gd name="adj" fmla="val 11111"/>
            </a:avLst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319272"/>
            <a:ext cx="237744" cy="23774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193792" y="327355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Row-Level Security (RLS) for state emergency management teams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4773168" y="3803904"/>
            <a:ext cx="3886200" cy="493776"/>
          </a:xfrm>
          <a:prstGeom prst="roundRect">
            <a:avLst>
              <a:gd name="adj" fmla="val 11111"/>
            </a:avLst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3886200"/>
            <a:ext cx="237744" cy="23774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193792" y="384048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What-If model with climate change multipliers (NOAA projections)</a:t>
            </a:r>
            <a:endParaRPr lang="en-US" sz="1000" dirty="0"/>
          </a:p>
        </p:txBody>
      </p:sp>
      <p:sp>
        <p:nvSpPr>
          <p:cNvPr id="34" name="Text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CPDA Batch 9  │  US Disaster Declarations  │  Power BI Capstone  │  June 2026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6DC0EAB-D0BB-9DF1-0067-5C7DFA8D9AC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5DB1648-7A3E-F5FF-D9D0-4AE36EA73778}"/>
              </a:ext>
            </a:extLst>
          </p:cNvPr>
          <p:cNvSpPr/>
          <p:nvPr/>
        </p:nvSpPr>
        <p:spPr>
          <a:xfrm>
            <a:off x="45720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DID WHAT</a:t>
            </a:r>
            <a:endParaRPr lang="en-US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C0B9BE-9F8E-58CD-C7D4-5AA26BBD6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399620"/>
              </p:ext>
            </p:extLst>
          </p:nvPr>
        </p:nvGraphicFramePr>
        <p:xfrm>
          <a:off x="751343" y="1165392"/>
          <a:ext cx="7641314" cy="3516878"/>
        </p:xfrm>
        <a:graphic>
          <a:graphicData uri="http://schemas.openxmlformats.org/drawingml/2006/table">
            <a:tbl>
              <a:tblPr/>
              <a:tblGrid>
                <a:gridCol w="1127037">
                  <a:extLst>
                    <a:ext uri="{9D8B030D-6E8A-4147-A177-3AD203B41FA5}">
                      <a16:colId xmlns:a16="http://schemas.microsoft.com/office/drawing/2014/main" val="607512865"/>
                    </a:ext>
                  </a:extLst>
                </a:gridCol>
                <a:gridCol w="5387240">
                  <a:extLst>
                    <a:ext uri="{9D8B030D-6E8A-4147-A177-3AD203B41FA5}">
                      <a16:colId xmlns:a16="http://schemas.microsoft.com/office/drawing/2014/main" val="1431209827"/>
                    </a:ext>
                  </a:extLst>
                </a:gridCol>
                <a:gridCol w="1127037">
                  <a:extLst>
                    <a:ext uri="{9D8B030D-6E8A-4147-A177-3AD203B41FA5}">
                      <a16:colId xmlns:a16="http://schemas.microsoft.com/office/drawing/2014/main" val="2999358759"/>
                    </a:ext>
                  </a:extLst>
                </a:gridCol>
              </a:tblGrid>
              <a:tr h="17237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23941" marR="23941" marT="15960" marB="1596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Milestone/Deliverables</a:t>
                      </a:r>
                    </a:p>
                  </a:txBody>
                  <a:tcPr marL="23941" marR="23941" marT="15960" marB="1596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Learners</a:t>
                      </a:r>
                    </a:p>
                  </a:txBody>
                  <a:tcPr marL="23941" marR="23941" marT="15960" marB="1596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493050"/>
                  </a:ext>
                </a:extLst>
              </a:tr>
              <a:tr h="491581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</a:rPr>
                        <a:t>Week 1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</a:rPr>
                        <a:t>Kickoff: Project Management, GitHub Project Initiation, and Scrum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Priyanka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Sarvesh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036097"/>
                  </a:ext>
                </a:extLst>
              </a:tr>
              <a:tr h="3128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</a:rPr>
                        <a:t>Import CSV</a:t>
                      </a:r>
                      <a:br>
                        <a:rPr lang="en-US" sz="1200" b="0" dirty="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</a:rPr>
                        <a:t>B.1 &amp; B.2 Cleaning: Cleaning dates, categories, FIPS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Sarvesh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410973"/>
                  </a:ext>
                </a:extLst>
              </a:tr>
              <a:tr h="2617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</a:rPr>
                        <a:t>C.1 Initial Data Model: Setting up tables.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Priyanka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595154"/>
                  </a:ext>
                </a:extLst>
              </a:tr>
              <a:tr h="33409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</a:rPr>
                        <a:t>Week 2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</a:rPr>
                        <a:t>DAX Calculations: Developing duration, aggregated metrics</a:t>
                      </a:r>
                      <a:br>
                        <a:rPr lang="en-US" sz="1200" b="0" dirty="0"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</a:rPr>
                        <a:t>E.1 Scenario Setup: Building What-If parameters</a:t>
                      </a:r>
                      <a:br>
                        <a:rPr lang="en-US" sz="1200" b="0" dirty="0">
                          <a:effectLst/>
                          <a:latin typeface="Calibri" panose="020F0502020204030204" pitchFamily="34" charset="0"/>
                        </a:rPr>
                      </a:br>
                      <a:endParaRPr lang="en-US" sz="1200" b="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Subhra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202020"/>
                  </a:ext>
                </a:extLst>
              </a:tr>
              <a:tr h="2617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</a:rPr>
                        <a:t>F.1 UI Skeleton: Drafting Overview, Geographic, and Temporal pages.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Sarvesh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121434"/>
                  </a:ext>
                </a:extLst>
              </a:tr>
              <a:tr h="261751"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</a:rPr>
                        <a:t>Week 3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</a:rPr>
                        <a:t>Visualization Refinement: Finalizing all pages &amp; interactivity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Priyanka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920019"/>
                  </a:ext>
                </a:extLst>
              </a:tr>
              <a:tr h="2617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0" dirty="0">
                          <a:effectLst/>
                          <a:latin typeface="Calibri" panose="020F0502020204030204" pitchFamily="34" charset="0"/>
                        </a:rPr>
                        <a:t>QA: Verifying measures and optimizing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Sarvesh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035121"/>
                  </a:ext>
                </a:extLst>
              </a:tr>
              <a:tr h="2617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Presentation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>
                          <a:effectLst/>
                        </a:rPr>
                        <a:t>Subhra</a:t>
                      </a:r>
                    </a:p>
                  </a:txBody>
                  <a:tcPr marL="23941" marR="23941" marT="15960" marB="1596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267754"/>
                  </a:ext>
                </a:extLst>
              </a:tr>
              <a:tr h="2617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Technical Write-Up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Dipti</a:t>
                      </a:r>
                    </a:p>
                  </a:txBody>
                  <a:tcPr marL="23941" marR="23941" marT="15960" marB="1596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072339"/>
                  </a:ext>
                </a:extLst>
              </a:tr>
              <a:tr h="26175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>
                          <a:effectLst/>
                          <a:latin typeface="Calibri" panose="020F0502020204030204" pitchFamily="34" charset="0"/>
                        </a:rPr>
                        <a:t>Week 4</a:t>
                      </a:r>
                    </a:p>
                  </a:txBody>
                  <a:tcPr marL="23941" marR="23941" marT="15960" marB="1596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>
                          <a:effectLst/>
                        </a:rPr>
                        <a:t>Final Allignment with the team</a:t>
                      </a:r>
                    </a:p>
                  </a:txBody>
                  <a:tcPr marL="23941" marR="23941" marT="15960" marB="1596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All</a:t>
                      </a:r>
                    </a:p>
                  </a:txBody>
                  <a:tcPr marL="23941" marR="23941" marT="15960" marB="1596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051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066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2286000"/>
            <a:ext cx="4114800" cy="4114800"/>
          </a:xfrm>
          <a:prstGeom prst="ellipse">
            <a:avLst/>
          </a:prstGeom>
          <a:solidFill>
            <a:srgbClr val="F4A26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Open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3200400" cy="36576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B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Disaster Declarations  |  Power BI Capstone  |  CPDA Batch 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1A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Group 1 │  Hero Vired  │  June 2026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42519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 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425196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4251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1989</Words>
  <Application>Microsoft Office PowerPoint</Application>
  <PresentationFormat>On-screen Show (16:9)</PresentationFormat>
  <Paragraphs>378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Disaster Declarations – Power BI Capstone</dc:title>
  <dc:subject>PptxGenJS Presentation</dc:subject>
  <dc:creator>PptxGenJS</dc:creator>
  <cp:lastModifiedBy>Sarvesh Mehta</cp:lastModifiedBy>
  <cp:revision>8</cp:revision>
  <dcterms:created xsi:type="dcterms:W3CDTF">2026-06-25T17:45:33Z</dcterms:created>
  <dcterms:modified xsi:type="dcterms:W3CDTF">2026-06-27T13:36:47Z</dcterms:modified>
</cp:coreProperties>
</file>